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European Call Option DeFi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Blockchain-Based Decentralized Options Trading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00FF"/>
                </a:solidFill>
              </a:rPr>
              <a:t>GitHub: https://github.com/Blockchain-LU-Group/Blockchain-Group-Project
</a:t>
            </a:r>
            <a:r>
              <a:rPr sz="1200" b="1">
                <a:solidFill>
                  <a:srgbClr val="0000FF"/>
                </a:solidFill>
              </a:rPr>
              <a:t>Demo Video: [Video link to be added]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 Statement &amp; Motivation</a:t>
            </a:r>
          </a:p>
          <a:p>
            <a:pPr>
              <a:spcAft>
                <a:spcPts val="1200"/>
              </a:spcAft>
            </a:pPr>
            <a:r>
              <a:t>Solution Design &amp; Architecture</a:t>
            </a:r>
          </a:p>
          <a:p>
            <a:pPr>
              <a:spcAft>
                <a:spcPts val="1200"/>
              </a:spcAft>
            </a:pPr>
            <a:r>
              <a:t>Implementation Details</a:t>
            </a:r>
          </a:p>
          <a:p>
            <a:pPr>
              <a:spcAft>
                <a:spcPts val="1200"/>
              </a:spcAft>
            </a:pPr>
            <a:r>
              <a:t>Testing &amp; Security Analysis</a:t>
            </a:r>
          </a:p>
          <a:p>
            <a:pPr>
              <a:spcAft>
                <a:spcPts val="1200"/>
              </a:spcAft>
            </a:pPr>
            <a:r>
              <a:t>Deployment &amp; DevOps</a:t>
            </a:r>
          </a:p>
          <a:p>
            <a:pPr>
              <a:spcAft>
                <a:spcPts val="1200"/>
              </a:spcAft>
            </a:pPr>
            <a:r>
              <a:t>Demo &amp; Results</a:t>
            </a:r>
          </a:p>
          <a:p>
            <a:pPr>
              <a:spcAft>
                <a:spcPts val="1200"/>
              </a:spcAft>
            </a:pPr>
            <a:r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R1: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Problem: Traditional Options Trading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Requires centralized intermediaries and exchanges</a:t>
            </a:r>
          </a:p>
          <a:p>
            <a:pPr>
              <a:spcAft>
                <a:spcPts val="1200"/>
              </a:spcAft>
            </a:pPr>
            <a:r>
              <a:t>Lack of transparency in pricing and execution</a:t>
            </a:r>
          </a:p>
          <a:p>
            <a:pPr>
              <a:spcAft>
                <a:spcPts val="1200"/>
              </a:spcAft>
            </a:pPr>
            <a:r>
              <a:t>High fees and barriers to entry</a:t>
            </a:r>
          </a:p>
          <a:p>
            <a:pPr>
              <a:spcAft>
                <a:spcPts val="1200"/>
              </a:spcAft>
            </a:pPr>
            <a:r>
              <a:t>Counterparty risk and settlement delays</a:t>
            </a:r>
          </a:p>
          <a:p>
            <a:pPr>
              <a:spcAft>
                <a:spcPts val="1200"/>
              </a:spcAft>
            </a:pPr>
            <a:r>
              <a:t>Limited accessibility and geographical restrictions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Blockchain/DeFi?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Trustless execution through smart contracts</a:t>
            </a:r>
          </a:p>
          <a:p>
            <a:pPr>
              <a:spcAft>
                <a:spcPts val="1200"/>
              </a:spcAft>
            </a:pPr>
            <a:r>
              <a:t>Transparency: All transactions on-chain and verifiable</a:t>
            </a:r>
          </a:p>
          <a:p>
            <a:pPr>
              <a:spcAft>
                <a:spcPts val="1200"/>
              </a:spcAft>
            </a:pPr>
            <a:r>
              <a:t>Elimination of intermediaries: Direct peer-to-peer trading</a:t>
            </a:r>
          </a:p>
          <a:p>
            <a:pPr>
              <a:spcAft>
                <a:spcPts val="1200"/>
              </a:spcAft>
            </a:pPr>
            <a:r>
              <a:t>24/7 global accessibility</a:t>
            </a:r>
          </a:p>
          <a:p>
            <a:pPr>
              <a:spcAft>
                <a:spcPts val="1200"/>
              </a:spcAft>
            </a:pPr>
            <a:r>
              <a:t>Reduced fees and faster settlement</a:t>
            </a:r>
          </a:p>
          <a:p>
            <a:pPr>
              <a:spcAft>
                <a:spcPts val="1200"/>
              </a:spcAft>
            </a:pPr>
            <a:r>
              <a:t>Programmable financial products with automated execution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Constraints &amp;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Ethereum Sepolia testnet deployment (not mainnet)</a:t>
            </a:r>
          </a:p>
          <a:p>
            <a:pPr>
              <a:spcAft>
                <a:spcPts val="1200"/>
              </a:spcAft>
            </a:pPr>
            <a:r>
              <a:t>ERC20 tokens as underlying and strike assets</a:t>
            </a:r>
          </a:p>
          <a:p>
            <a:pPr>
              <a:spcAft>
                <a:spcPts val="1200"/>
              </a:spcAft>
            </a:pPr>
            <a:r>
              <a:t>European-style options (exercise only at expiration)</a:t>
            </a:r>
          </a:p>
          <a:p>
            <a:pPr>
              <a:spcAft>
                <a:spcPts val="1200"/>
              </a:spcAft>
            </a:pPr>
            <a:r>
              <a:t>10-day exercise window after expiration</a:t>
            </a:r>
          </a:p>
          <a:p>
            <a:pPr>
              <a:spcAft>
                <a:spcPts val="1200"/>
              </a:spcAft>
            </a:pPr>
            <a:r>
              <a:t>Single option per contract instance</a:t>
            </a:r>
          </a:p>
          <a:p>
            <a:pPr>
              <a:spcAft>
                <a:spcPts val="1200"/>
              </a:spcAft>
            </a:pPr>
            <a:r>
              <a:t>No external price oracles (manual input)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R2: Solution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Contracts Layer: Core business logic in Solidity</a:t>
            </a:r>
          </a:p>
          <a:p>
            <a:pPr>
              <a:spcAft>
                <a:spcPts val="1200"/>
              </a:spcAft>
            </a:pPr>
            <a:r>
              <a:t>• EuropeanCallOption: Individual option contract</a:t>
            </a:r>
          </a:p>
          <a:p>
            <a:pPr>
              <a:spcAft>
                <a:spcPts val="1200"/>
              </a:spcAft>
            </a:pPr>
            <a:r>
              <a:t>• OptionFactory: Creates and manages options</a:t>
            </a:r>
          </a:p>
          <a:p>
            <a:pPr>
              <a:spcAft>
                <a:spcPts val="1200"/>
              </a:spcAft>
            </a:pPr>
            <a:r>
              <a:t>Testing Layer: Comprehensive test suites with Hardhat</a:t>
            </a:r>
          </a:p>
          <a:p>
            <a:pPr>
              <a:spcAft>
                <a:spcPts val="1200"/>
              </a:spcAft>
            </a:pPr>
            <a:r>
              <a:t>Frontend Layer: Web interface with Next.js &amp; React</a:t>
            </a:r>
          </a:p>
          <a:p>
            <a:pPr>
              <a:spcAft>
                <a:spcPts val="1200"/>
              </a:spcAft>
            </a:pPr>
            <a:r>
              <a:t>Integration: Wagmi, Viem for Web3 connectivity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 Lifecycle States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Created: Option created by issuer, awaiting holder</a:t>
            </a:r>
          </a:p>
          <a:p>
            <a:pPr>
              <a:spcAft>
                <a:spcPts val="1200"/>
              </a:spcAft>
            </a:pPr>
            <a:r>
              <a:t>Active: Holder paid premium, option is active</a:t>
            </a:r>
          </a:p>
          <a:p>
            <a:pPr>
              <a:spcAft>
                <a:spcPts val="1200"/>
              </a:spcAft>
            </a:pPr>
            <a:r>
              <a:t>Exercised: Holder exercised option after expiration</a:t>
            </a:r>
          </a:p>
          <a:p>
            <a:pPr>
              <a:spcAft>
                <a:spcPts val="1200"/>
              </a:spcAft>
            </a:pPr>
            <a:r>
              <a:t>Expired: Option passed exercise window unused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Process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Issuer creates option through Factory</a:t>
            </a:r>
          </a:p>
          <a:p>
            <a:pPr>
              <a:spcAft>
                <a:spcPts val="1200"/>
              </a:spcAft>
            </a:pPr>
            <a:r>
              <a:t>2. Holder matches option and becomes assigned</a:t>
            </a:r>
          </a:p>
          <a:p>
            <a:pPr>
              <a:spcAft>
                <a:spcPts val="1200"/>
              </a:spcAft>
            </a:pPr>
            <a:r>
              <a:t>3. Holder pays premium to issuer (activates option)</a:t>
            </a:r>
          </a:p>
          <a:p>
            <a:pPr>
              <a:spcAft>
                <a:spcPts val="1200"/>
              </a:spcAft>
            </a:pPr>
            <a:r>
              <a:t>4. After expiration, holder can exercise</a:t>
            </a:r>
          </a:p>
          <a:p>
            <a:pPr>
              <a:spcAft>
                <a:spcPts val="1200"/>
              </a:spcAft>
            </a:pPr>
            <a:r>
              <a:t>5. Exercise transfers strike price and underlying asset</a:t>
            </a:r>
          </a:p>
          <a:p>
            <a:pPr>
              <a:spcAft>
                <a:spcPts val="1200"/>
              </a:spcAft>
            </a:pPr>
            <a:r>
              <a:t>6. Option marked as Exercised or Expired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R3: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 &amp; Novelty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✓ Complete European call option lifecycle management</a:t>
            </a:r>
          </a:p>
          <a:p>
            <a:pPr>
              <a:spcAft>
                <a:spcPts val="1200"/>
              </a:spcAft>
            </a:pPr>
            <a:r>
              <a:t>✓ Factory pattern for scalable option creation</a:t>
            </a:r>
          </a:p>
          <a:p>
            <a:pPr>
              <a:spcAft>
                <a:spcPts val="1200"/>
              </a:spcAft>
            </a:pPr>
            <a:r>
              <a:t>✓ Premium payment and exercise mechanisms</a:t>
            </a:r>
          </a:p>
          <a:p>
            <a:pPr>
              <a:spcAft>
                <a:spcPts val="1200"/>
              </a:spcAft>
            </a:pPr>
            <a:r>
              <a:t>✓ Option transfer functionality</a:t>
            </a:r>
          </a:p>
          <a:p>
            <a:pPr>
              <a:spcAft>
                <a:spcPts val="1200"/>
              </a:spcAft>
            </a:pPr>
            <a:r>
              <a:t>✓ Automatic expiration handling</a:t>
            </a:r>
          </a:p>
          <a:p>
            <a:pPr>
              <a:spcAft>
                <a:spcPts val="1200"/>
              </a:spcAft>
            </a:pPr>
            <a:r>
              <a:t>✓ Event emission for off-chain monitoring</a:t>
            </a:r>
          </a:p>
          <a:p>
            <a:pPr>
              <a:spcAft>
                <a:spcPts val="1200"/>
              </a:spcAft>
            </a:pPr>
            <a:r>
              <a:t>✓ Comprehensive access control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Contract Functions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EuropeanCallOption:</a:t>
            </a:r>
          </a:p>
          <a:p>
            <a:pPr/>
            <a:r>
              <a:t>• payPremium()</a:t>
            </a:r>
          </a:p>
          <a:p>
            <a:pPr/>
            <a:r>
              <a:t>• exercised()</a:t>
            </a:r>
          </a:p>
          <a:p>
            <a:pPr/>
            <a:r>
              <a:t>• transferOption()</a:t>
            </a:r>
          </a:p>
          <a:p>
            <a:pPr/>
            <a:r>
              <a:t>• isExercisable()</a:t>
            </a:r>
          </a:p>
          <a:p>
            <a:pPr/>
            <a:r>
              <a:t>• expireOption()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Quality &amp;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Clean, readable Solidity code with NatSpec comments</a:t>
            </a:r>
          </a:p>
          <a:p>
            <a:pPr>
              <a:spcAft>
                <a:spcPts val="1200"/>
              </a:spcAft>
            </a:pPr>
            <a:r>
              <a:t>Comprehensive event emission for all state changes</a:t>
            </a:r>
          </a:p>
          <a:p>
            <a:pPr>
              <a:spcAft>
                <a:spcPts val="1200"/>
              </a:spcAft>
            </a:pPr>
            <a:r>
              <a:t>Strict access control: Only authorized users can execute functions</a:t>
            </a:r>
          </a:p>
          <a:p>
            <a:pPr>
              <a:spcAft>
                <a:spcPts val="1200"/>
              </a:spcAft>
            </a:pPr>
            <a:r>
              <a:t>Input validation: All parameters checked for validity</a:t>
            </a:r>
          </a:p>
          <a:p>
            <a:pPr>
              <a:spcAft>
                <a:spcPts val="1200"/>
              </a:spcAft>
            </a:pPr>
            <a:r>
              <a:t>State machine: Enforced state transitions prevent errors</a:t>
            </a:r>
          </a:p>
          <a:p>
            <a:pPr>
              <a:spcAft>
                <a:spcPts val="1200"/>
              </a:spcAft>
            </a:pPr>
            <a:r>
              <a:t>Gas optimization: Solidity optimizer enabled (200 runs)</a:t>
            </a:r>
          </a:p>
          <a:p>
            <a:pPr>
              <a:spcAft>
                <a:spcPts val="1200"/>
              </a:spcAft>
            </a:pPr>
            <a:r>
              <a:t>OpenZeppelin libraries: ReentrancyGuard, IERC20 interfaces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R4: Testing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Unit Tests: Individual function testing with edge cases</a:t>
            </a:r>
          </a:p>
          <a:p>
            <a:pPr>
              <a:spcAft>
                <a:spcPts val="1200"/>
              </a:spcAft>
            </a:pPr>
            <a:r>
              <a:t>• Constructor validation</a:t>
            </a:r>
          </a:p>
          <a:p>
            <a:pPr>
              <a:spcAft>
                <a:spcPts val="1200"/>
              </a:spcAft>
            </a:pPr>
            <a:r>
              <a:t>• Premium payment flow</a:t>
            </a:r>
          </a:p>
          <a:p>
            <a:pPr>
              <a:spcAft>
                <a:spcPts val="1200"/>
              </a:spcAft>
            </a:pPr>
            <a:r>
              <a:t>• Exercise mechanics</a:t>
            </a:r>
          </a:p>
          <a:p>
            <a:pPr>
              <a:spcAft>
                <a:spcPts val="1200"/>
              </a:spcAft>
            </a:pPr>
            <a:r>
              <a:t>• Access control verification</a:t>
            </a:r>
          </a:p>
          <a:p>
            <a:pPr>
              <a:spcAft>
                <a:spcPts val="1200"/>
              </a:spcAft>
            </a:pPr>
            <a:r>
              <a:t>Integration Tests: Complete option lifecycle</a:t>
            </a:r>
          </a:p>
          <a:p>
            <a:pPr>
              <a:spcAft>
                <a:spcPts val="1200"/>
              </a:spcAft>
            </a:pPr>
            <a:r>
              <a:t>• End-to-end flow verification</a:t>
            </a:r>
          </a:p>
          <a:p>
            <a:pPr>
              <a:spcAft>
                <a:spcPts val="1200"/>
              </a:spcAft>
            </a:pPr>
            <a:r>
              <a:t>• Asset transfer validation</a:t>
            </a:r>
          </a:p>
          <a:p>
            <a:pPr>
              <a:spcAft>
                <a:spcPts val="1200"/>
              </a:spcAft>
            </a:pPr>
            <a:r>
              <a:t>• Balance calculations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Analysis: Slither Vulnerability Scan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Static analysis tool: Slither</a:t>
            </a:r>
          </a:p>
          <a:p>
            <a:pPr>
              <a:spcAft>
                <a:spcPts val="1200"/>
              </a:spcAft>
            </a:pPr>
            <a:r>
              <a:t>Scanned contracts: EuropeanCallOption, OptionFactory</a:t>
            </a:r>
          </a:p>
          <a:p>
            <a:pPr>
              <a:spcAft>
                <a:spcPts val="1200"/>
              </a:spcAft>
            </a:pPr>
            <a:r>
              <a:t>Security measures implemented:</a:t>
            </a:r>
          </a:p>
          <a:p>
            <a:pPr>
              <a:spcAft>
                <a:spcPts val="1200"/>
              </a:spcAft>
            </a:pPr>
            <a:r>
              <a:t>• ReentrancyGuard on all state-changing functions</a:t>
            </a:r>
          </a:p>
          <a:p>
            <a:pPr>
              <a:spcAft>
                <a:spcPts val="1200"/>
              </a:spcAft>
            </a:pPr>
            <a:r>
              <a:t>• Input validation for all parameters</a:t>
            </a:r>
          </a:p>
          <a:p>
            <a:pPr>
              <a:spcAft>
                <a:spcPts val="1200"/>
              </a:spcAft>
            </a:pPr>
            <a:r>
              <a:t>• Access control enforcement</a:t>
            </a:r>
          </a:p>
          <a:p>
            <a:pPr>
              <a:spcAft>
                <a:spcPts val="1200"/>
              </a:spcAft>
            </a:pPr>
            <a:r>
              <a:t>• Safe math operations (Solidity 0.8.19)</a:t>
            </a:r>
          </a:p>
          <a:p>
            <a:pPr>
              <a:spcAft>
                <a:spcPts val="1200"/>
              </a:spcAft>
            </a:pPr>
            <a:r>
              <a:t>• Time-based validation checks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Threats Identified &amp;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Reentrancy Attacks → ReentrancyGuard on critical functions</a:t>
            </a:r>
          </a:p>
          <a:p>
            <a:pPr>
              <a:spcAft>
                <a:spcPts val="1200"/>
              </a:spcAft>
            </a:pPr>
            <a:r>
              <a:t>Integer Overflow/Underflow → Solidity 0.8.19 built-in protection</a:t>
            </a:r>
          </a:p>
          <a:p>
            <a:pPr>
              <a:spcAft>
                <a:spcPts val="1200"/>
              </a:spcAft>
            </a:pPr>
            <a:r>
              <a:t>Unauthorized Access → Strict access control (only holder/issuer/factory)</a:t>
            </a:r>
          </a:p>
          <a:p>
            <a:pPr>
              <a:spcAft>
                <a:spcPts val="1200"/>
              </a:spcAft>
            </a:pPr>
            <a:r>
              <a:t>Invalid State Transitions → State machine with enum checks</a:t>
            </a:r>
          </a:p>
          <a:p>
            <a:pPr>
              <a:spcAft>
                <a:spcPts val="1200"/>
              </a:spcAft>
            </a:pPr>
            <a:r>
              <a:t>Premature/Late Exercise → Time validation (expiration + 10-day window)</a:t>
            </a:r>
          </a:p>
          <a:p>
            <a:pPr>
              <a:spcAft>
                <a:spcPts val="1200"/>
              </a:spcAft>
            </a:pPr>
            <a:r>
              <a:t>Zero Address/Value Issues → Input validation in constructor and functions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R5: Deployment &amp; DevOps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Testnet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Network: Ethereum Sepolia Testnet</a:t>
            </a:r>
          </a:p>
          <a:p>
            <a:pPr>
              <a:spcAft>
                <a:spcPts val="1200"/>
              </a:spcAft>
            </a:pPr>
            <a:r>
              <a:t>Contracts Deployed:</a:t>
            </a:r>
          </a:p>
          <a:p>
            <a:pPr>
              <a:spcAft>
                <a:spcPts val="1200"/>
              </a:spcAft>
            </a:pPr>
            <a:r>
              <a:t>• OptionFactory: 0x8000b7AE7a3C4138Dcc6DcE93E11051d1139c81D</a:t>
            </a:r>
          </a:p>
          <a:p>
            <a:pPr>
              <a:spcAft>
                <a:spcPts val="1200"/>
              </a:spcAft>
            </a:pPr>
            <a:r>
              <a:t>• EuropeanCallOption: 0x20d2518424057D8DacBD9536D9D83B067990954e</a:t>
            </a:r>
          </a:p>
          <a:p>
            <a:pPr>
              <a:spcAft>
                <a:spcPts val="1200"/>
              </a:spcAft>
            </a:pPr>
            <a:r>
              <a:t>• MockERC20 (Underlying): 0x452f0232e083998d2f968b0602fb8208e7320df8</a:t>
            </a:r>
          </a:p>
          <a:p>
            <a:pPr>
              <a:spcAft>
                <a:spcPts val="1200"/>
              </a:spcAft>
            </a:pPr>
            <a:r>
              <a:t>• MockERC20 (Strike): 0x424bd9e49e2049600deda9604d2a3ba836f99ee4</a:t>
            </a:r>
          </a:p>
          <a:p>
            <a:pPr>
              <a:spcAft>
                <a:spcPts val="1200"/>
              </a:spcAft>
            </a:pPr>
            <a:r>
              <a:t>All contracts verified on Etherscan for transparency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&amp;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Deployment Scripts: Automated deployment to Sepolia</a:t>
            </a:r>
          </a:p>
          <a:p>
            <a:pPr>
              <a:spcAft>
                <a:spcPts val="1200"/>
              </a:spcAft>
            </a:pPr>
            <a:r>
              <a:t>• deploy_factory.js: Deploys OptionFactory</a:t>
            </a:r>
          </a:p>
          <a:p>
            <a:pPr>
              <a:spcAft>
                <a:spcPts val="1200"/>
              </a:spcAft>
            </a:pPr>
            <a:r>
              <a:t>• deploy_option.js: Deploys options and Mock tokens</a:t>
            </a:r>
          </a:p>
          <a:p>
            <a:pPr>
              <a:spcAft>
                <a:spcPts val="1200"/>
              </a:spcAft>
            </a:pPr>
            <a:r>
              <a:t>Verification Script: verify_contract.js for Etherscan</a:t>
            </a:r>
          </a:p>
          <a:p>
            <a:pPr>
              <a:spcAft>
                <a:spcPts val="1200"/>
              </a:spcAft>
            </a:pPr>
            <a:r>
              <a:t>Testing Script: npm run test with Hardhat</a:t>
            </a:r>
          </a:p>
          <a:p>
            <a:pPr>
              <a:spcAft>
                <a:spcPts val="1200"/>
              </a:spcAft>
            </a:pPr>
            <a:r>
              <a:t>Start Script: start.sh with workflow automation</a:t>
            </a:r>
          </a:p>
          <a:p>
            <a:pPr>
              <a:spcAft>
                <a:spcPts val="1200"/>
              </a:spcAft>
            </a:pPr>
            <a:r>
              <a:t>Reproducible Steps: Well-documented in README.md</a:t>
            </a:r>
          </a:p>
          <a:p>
            <a:pPr>
              <a:spcAft>
                <a:spcPts val="1200"/>
              </a:spcAft>
            </a:pPr>
            <a:r>
              <a:t>Environment Configuration: .env file for keys and RPC URLs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Operations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Contract Design: Stateless option contracts (no pause/upgrade needed)</a:t>
            </a:r>
          </a:p>
          <a:p>
            <a:pPr>
              <a:spcAft>
                <a:spcPts val="1200"/>
              </a:spcAft>
            </a:pPr>
            <a:r>
              <a:t>Factory Pattern: New instances can be created for updates</a:t>
            </a:r>
          </a:p>
          <a:p>
            <a:pPr>
              <a:spcAft>
                <a:spcPts val="1200"/>
              </a:spcAft>
            </a:pPr>
            <a:r>
              <a:t>Rationale: Each option is independent, no shared state</a:t>
            </a:r>
          </a:p>
          <a:p>
            <a:pPr>
              <a:spcAft>
                <a:spcPts val="1200"/>
              </a:spcAft>
            </a:pPr>
            <a:r>
              <a:t>Testing: Comprehensive tests ensure contract correctness</a:t>
            </a:r>
          </a:p>
          <a:p>
            <a:pPr>
              <a:spcAft>
                <a:spcPts val="1200"/>
              </a:spcAft>
            </a:pPr>
            <a:r>
              <a:t>Verification: Source code verified on Etherscan</a:t>
            </a:r>
          </a:p>
          <a:p>
            <a:pPr>
              <a:spcAft>
                <a:spcPts val="1200"/>
              </a:spcAft>
            </a:pPr>
            <a:r>
              <a:t>Documentation: Complete setup and usage instructions</a:t>
            </a:r>
          </a:p>
          <a:p>
            <a:pPr>
              <a:spcAft>
                <a:spcPts val="1200"/>
              </a:spcAft>
            </a:pPr>
            <a:r>
              <a:t>Frontend: Automated deployment information loading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R6: Documentation &amp;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 Repository: https://github.com/Blockchain-LU-Group/Blockchain-Group-Project</a:t>
            </a:r>
          </a:p>
          <a:p>
            <a:pPr>
              <a:spcAft>
                <a:spcPts val="1200"/>
              </a:spcAft>
            </a:pPr>
            <a:r>
              <a:t>Contents:</a:t>
            </a:r>
          </a:p>
          <a:p>
            <a:pPr>
              <a:spcAft>
                <a:spcPts val="1200"/>
              </a:spcAft>
            </a:pPr>
            <a:r>
              <a:t>• Smart contracts (Solidity)</a:t>
            </a:r>
          </a:p>
          <a:p>
            <a:pPr>
              <a:spcAft>
                <a:spcPts val="1200"/>
              </a:spcAft>
            </a:pPr>
            <a:r>
              <a:t>• Test suites (TypeScript)</a:t>
            </a:r>
          </a:p>
          <a:p>
            <a:pPr>
              <a:spcAft>
                <a:spcPts val="1200"/>
              </a:spcAft>
            </a:pPr>
            <a:r>
              <a:t>• Deployment scripts (JavaScript)</a:t>
            </a:r>
          </a:p>
          <a:p>
            <a:pPr>
              <a:spcAft>
                <a:spcPts val="1200"/>
              </a:spcAft>
            </a:pPr>
            <a:r>
              <a:t>• Frontend application (Next.js/React)</a:t>
            </a:r>
          </a:p>
          <a:p>
            <a:pPr>
              <a:spcAft>
                <a:spcPts val="1200"/>
              </a:spcAft>
            </a:pPr>
            <a:r>
              <a:t>• README.md with complete setup instructions</a:t>
            </a:r>
          </a:p>
          <a:p>
            <a:pPr>
              <a:spcAft>
                <a:spcPts val="1200"/>
              </a:spcAft>
            </a:pPr>
            <a:r>
              <a:t>• Documentation files</a:t>
            </a:r>
          </a:p>
          <a:p>
            <a:pPr>
              <a:spcAft>
                <a:spcPts val="1200"/>
              </a:spcAft>
            </a:pPr>
            <a:r>
              <a:t>• License: MIT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Video Link: (To be added)</a:t>
            </a:r>
          </a:p>
          <a:p>
            <a:pPr>
              <a:spcAft>
                <a:spcPts val="1200"/>
              </a:spcAft>
            </a:pPr>
            <a:r>
              <a:t>Duration: ~5 minutes</a:t>
            </a:r>
          </a:p>
          <a:p>
            <a:pPr>
              <a:spcAft>
                <a:spcPts val="1200"/>
              </a:spcAft>
            </a:pPr>
            <a:r>
              <a:t>Content:</a:t>
            </a:r>
          </a:p>
          <a:p>
            <a:pPr>
              <a:spcAft>
                <a:spcPts val="1200"/>
              </a:spcAft>
            </a:pPr>
            <a:r>
              <a:t>• Project overview and motivation</a:t>
            </a:r>
          </a:p>
          <a:p>
            <a:pPr>
              <a:spcAft>
                <a:spcPts val="1200"/>
              </a:spcAft>
            </a:pPr>
            <a:r>
              <a:t>• System architecture walkthrough</a:t>
            </a:r>
          </a:p>
          <a:p>
            <a:pPr>
              <a:spcAft>
                <a:spcPts val="1200"/>
              </a:spcAft>
            </a:pPr>
            <a:r>
              <a:t>• Frontend interface demonstration</a:t>
            </a:r>
          </a:p>
          <a:p>
            <a:pPr>
              <a:spcAft>
                <a:spcPts val="1200"/>
              </a:spcAft>
            </a:pPr>
            <a:r>
              <a:t>• Complete option lifecycle demo</a:t>
            </a:r>
          </a:p>
          <a:p>
            <a:pPr>
              <a:spcAft>
                <a:spcPts val="1200"/>
              </a:spcAft>
            </a:pPr>
            <a:r>
              <a:t>• Technical highlights and code walkthrough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Format: Word document (8-12 pages, 12pt font)</a:t>
            </a:r>
          </a:p>
          <a:p>
            <a:pPr>
              <a:spcAft>
                <a:spcPts val="1200"/>
              </a:spcAft>
            </a:pPr>
            <a:r>
              <a:t>Sections:</a:t>
            </a:r>
          </a:p>
          <a:p>
            <a:pPr>
              <a:spcAft>
                <a:spcPts val="1200"/>
              </a:spcAft>
            </a:pPr>
            <a:r>
              <a:t>• Abstract and Introduction</a:t>
            </a:r>
          </a:p>
          <a:p>
            <a:pPr>
              <a:spcAft>
                <a:spcPts val="1200"/>
              </a:spcAft>
            </a:pPr>
            <a:r>
              <a:t>• System Design and Architecture</a:t>
            </a:r>
          </a:p>
          <a:p>
            <a:pPr>
              <a:spcAft>
                <a:spcPts val="1200"/>
              </a:spcAft>
            </a:pPr>
            <a:r>
              <a:t>• Implementation Details</a:t>
            </a:r>
          </a:p>
          <a:p>
            <a:pPr>
              <a:spcAft>
                <a:spcPts val="1200"/>
              </a:spcAft>
            </a:pPr>
            <a:r>
              <a:t>• Testing and Security Analysis</a:t>
            </a:r>
          </a:p>
          <a:p>
            <a:pPr>
              <a:spcAft>
                <a:spcPts val="1200"/>
              </a:spcAft>
            </a:pPr>
            <a:r>
              <a:t>• Deployment and DevOps</a:t>
            </a:r>
          </a:p>
          <a:p>
            <a:pPr>
              <a:spcAft>
                <a:spcPts val="1200"/>
              </a:spcAft>
            </a:pPr>
            <a:r>
              <a:t>• Results and Demonstration</a:t>
            </a:r>
          </a:p>
          <a:p>
            <a:pPr>
              <a:spcAft>
                <a:spcPts val="1200"/>
              </a:spcAft>
            </a:pPr>
            <a:r>
              <a:t>• Future Enhancements</a:t>
            </a:r>
          </a:p>
          <a:p>
            <a:pPr>
              <a:spcAft>
                <a:spcPts val="1200"/>
              </a:spcAft>
            </a:pPr>
            <a:r>
              <a:t>• References and Attributions (APA style)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Interface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Wallet Connection: MetaMask integration via RainbowKit</a:t>
            </a:r>
          </a:p>
          <a:p>
            <a:pPr>
              <a:spcAft>
                <a:spcPts val="1200"/>
              </a:spcAft>
            </a:pPr>
            <a:r>
              <a:t>Option List: Browse all available options with filters</a:t>
            </a:r>
          </a:p>
          <a:p>
            <a:pPr>
              <a:spcAft>
                <a:spcPts val="1200"/>
              </a:spcAft>
            </a:pPr>
            <a:r>
              <a:t>Create Option: User-friendly form for option creation</a:t>
            </a:r>
          </a:p>
          <a:p>
            <a:pPr>
              <a:spcAft>
                <a:spcPts val="1200"/>
              </a:spcAft>
            </a:pPr>
            <a:r>
              <a:t>Option Dashboard: Detailed view of option parameters and status</a:t>
            </a:r>
          </a:p>
          <a:p>
            <a:pPr>
              <a:spcAft>
                <a:spcPts val="1200"/>
              </a:spcAft>
            </a:pPr>
            <a:r>
              <a:t>Operations: Premium payment, exercise, and transfer interfaces</a:t>
            </a:r>
          </a:p>
          <a:p>
            <a:pPr>
              <a:spcAft>
                <a:spcPts val="1200"/>
              </a:spcAft>
            </a:pPr>
            <a:r>
              <a:t>Real-time Updates: Automatic state refresh and transaction tracking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✓ Successfully deployed to Sepolia testnet</a:t>
            </a:r>
          </a:p>
          <a:p>
            <a:pPr>
              <a:spcAft>
                <a:spcPts val="1200"/>
              </a:spcAft>
            </a:pPr>
            <a:r>
              <a:t>✓ Contracts verified on Etherscan</a:t>
            </a:r>
          </a:p>
          <a:p>
            <a:pPr>
              <a:spcAft>
                <a:spcPts val="1200"/>
              </a:spcAft>
            </a:pPr>
            <a:r>
              <a:t>✓ Comprehensive test coverage (unit + integration)</a:t>
            </a:r>
          </a:p>
          <a:p>
            <a:pPr>
              <a:spcAft>
                <a:spcPts val="1200"/>
              </a:spcAft>
            </a:pPr>
            <a:r>
              <a:t>✓ Security analysis completed (Slither)</a:t>
            </a:r>
          </a:p>
          <a:p>
            <a:pPr>
              <a:spcAft>
                <a:spcPts val="1200"/>
              </a:spcAft>
            </a:pPr>
            <a:r>
              <a:t>✓ Fully functional frontend application</a:t>
            </a:r>
          </a:p>
          <a:p>
            <a:pPr>
              <a:spcAft>
                <a:spcPts val="1200"/>
              </a:spcAft>
            </a:pPr>
            <a:r>
              <a:t>✓ Complete option lifecycle demonstrated</a:t>
            </a:r>
          </a:p>
          <a:p>
            <a:pPr>
              <a:spcAft>
                <a:spcPts val="1200"/>
              </a:spcAft>
            </a:pPr>
            <a:r>
              <a:t>✓ Gas-efficient implementation</a:t>
            </a:r>
          </a:p>
          <a:p>
            <a:pPr>
              <a:spcAft>
                <a:spcPts val="1200"/>
              </a:spcAft>
            </a:pPr>
            <a:r>
              <a:t>✓ Well-documented codebase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Factory Pattern: Scalable option creation and management</a:t>
            </a:r>
          </a:p>
          <a:p>
            <a:pPr>
              <a:spcAft>
                <a:spcPts val="1200"/>
              </a:spcAft>
            </a:pPr>
            <a:r>
              <a:t>State Machine: Robust state transitions with enum types</a:t>
            </a:r>
          </a:p>
          <a:p>
            <a:pPr>
              <a:spcAft>
                <a:spcPts val="1200"/>
              </a:spcAft>
            </a:pPr>
            <a:r>
              <a:t>Event Emission: Comprehensive event logging for off-chain monitoring</a:t>
            </a:r>
          </a:p>
          <a:p>
            <a:pPr>
              <a:spcAft>
                <a:spcPts val="1200"/>
              </a:spcAft>
            </a:pPr>
            <a:r>
              <a:t>Access Control: Role-based permissions (issuer, holder, factory)</a:t>
            </a:r>
          </a:p>
          <a:p>
            <a:pPr>
              <a:spcAft>
                <a:spcPts val="1200"/>
              </a:spcAft>
            </a:pPr>
            <a:r>
              <a:t>Security: ReentrancyGuard, input validation, safe math</a:t>
            </a:r>
          </a:p>
          <a:p>
            <a:pPr>
              <a:spcAft>
                <a:spcPts val="1200"/>
              </a:spcAft>
            </a:pPr>
            <a:r>
              <a:t>Gas Optimization: Optimizer enabled, efficient storage patterns</a:t>
            </a:r>
          </a:p>
          <a:p>
            <a:pPr>
              <a:spcAft>
                <a:spcPts val="1200"/>
              </a:spcAft>
            </a:pPr>
            <a:r>
              <a:t>Testing: Time manipulation for expiration testing</a:t>
            </a:r>
          </a:p>
          <a:p>
            <a:pPr>
              <a:spcAft>
                <a:spcPts val="1200"/>
              </a:spcAft>
            </a:pPr>
            <a:r>
              <a:t>Frontend: Modern Web3 integration with React hooks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Additional option types: Put options, American options</a:t>
            </a:r>
          </a:p>
          <a:p>
            <a:pPr>
              <a:spcAft>
                <a:spcPts val="1200"/>
              </a:spcAft>
            </a:pPr>
            <a:r>
              <a:t>Automated market making and order book</a:t>
            </a:r>
          </a:p>
          <a:p>
            <a:pPr>
              <a:spcAft>
                <a:spcPts val="1200"/>
              </a:spcAft>
            </a:pPr>
            <a:r>
              <a:t>Oracle integration: Chainlink for price feeds</a:t>
            </a:r>
          </a:p>
          <a:p>
            <a:pPr>
              <a:spcAft>
                <a:spcPts val="1200"/>
              </a:spcAft>
            </a:pPr>
            <a:r>
              <a:t>Secondary market: Option trading and transfer</a:t>
            </a:r>
          </a:p>
          <a:p>
            <a:pPr>
              <a:spcAft>
                <a:spcPts val="1200"/>
              </a:spcAft>
            </a:pPr>
            <a:r>
              <a:t>Liquidation mechanisms for collateral</a:t>
            </a:r>
          </a:p>
          <a:p>
            <a:pPr>
              <a:spcAft>
                <a:spcPts val="1200"/>
              </a:spcAft>
            </a:pPr>
            <a:r>
              <a:t>Multi-chain deployment: Cross-chain interoperability</a:t>
            </a:r>
          </a:p>
          <a:p>
            <a:pPr>
              <a:spcAft>
                <a:spcPts val="1200"/>
              </a:spcAft>
            </a:pPr>
            <a:r>
              <a:t>Advanced analytics and portfolio management</a:t>
            </a:r>
          </a:p>
          <a:p>
            <a:pPr>
              <a:spcAft>
                <a:spcPts val="1200"/>
              </a:spcAft>
            </a:pPr>
            <a:r>
              <a:t>Mobile application development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Successfully implemented a decentralized European call option platform</a:t>
            </a:r>
          </a:p>
          <a:p>
            <a:pPr>
              <a:spcAft>
                <a:spcPts val="1200"/>
              </a:spcAft>
            </a:pPr>
            <a:r>
              <a:t>Demonstrated blockchain application development best practices</a:t>
            </a:r>
          </a:p>
          <a:p>
            <a:pPr>
              <a:spcAft>
                <a:spcPts val="1200"/>
              </a:spcAft>
            </a:pPr>
            <a:r>
              <a:t>Secure, tested, and deployed to public testnet</a:t>
            </a:r>
          </a:p>
          <a:p>
            <a:pPr>
              <a:spcAft>
                <a:spcPts val="1200"/>
              </a:spcAft>
            </a:pPr>
            <a:r>
              <a:t>User-friendly frontend for seamless interaction</a:t>
            </a:r>
          </a:p>
          <a:p>
            <a:pPr>
              <a:spcAft>
                <a:spcPts val="1200"/>
              </a:spcAft>
            </a:pPr>
            <a:r>
              <a:t>Comprehensive documentation and testing</a:t>
            </a:r>
          </a:p>
          <a:p>
            <a:pPr>
              <a:spcAft>
                <a:spcPts val="1200"/>
              </a:spcAft>
            </a:pPr>
            <a:r>
              <a:t>Foundation for advanced DeFi derivative products</a:t>
            </a:r>
          </a:p>
          <a:p>
            <a:pPr>
              <a:spcAft>
                <a:spcPts val="1200"/>
              </a:spcAft>
            </a:pPr>
            <a:r>
              <a:t>Showcases potential of blockchain for financial innovation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/>
              <a:t>GitHub: https://github.com/Blockchain-LU-Group/Blockchain-Group-Project
</a:t>
            </a:r>
            <a:r>
              <a:rPr sz="1200" b="1"/>
              <a:t>Demo Video: [Video link to be added]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